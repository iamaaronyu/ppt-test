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0188" y="0"/>
            <a:ext cx="0" cy="6858000"/>
          </a:xfrm>
          <a:prstGeom prst="line">
            <a:avLst/>
          </a:prstGeom>
          <a:noFill/>
          <a:ln w="9525">
            <a:solidFill>
              <a:srgbClr val="6B8F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1265783"/>
            <a:ext cx="20888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B8F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终端工具深度指南 · 2026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0350" y="1856333"/>
            <a:ext cx="2088833" cy="906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40"/>
              </a:lnSpc>
              <a:buNone/>
            </a:pPr>
            <a:r>
              <a:rPr lang="en-US" sz="6800" b="1" dirty="0">
                <a:solidFill>
                  <a:srgbClr val="2D34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tmux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660350" y="2991743"/>
            <a:ext cx="2088833" cy="302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0AAA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让你的终端永不掉线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60350" y="3573363"/>
            <a:ext cx="2088833" cy="863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一个诞生于 2007 年的终端复用器，至今仍是开发者、运维工程师和服务端管理者最依赖的工具之一。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60350" y="4869805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6B8F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38051" y="4842867"/>
            <a:ext cx="158165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8F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· Window · Pane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0350" y="5519142"/>
            <a:ext cx="34884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8C2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Vol. 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382000" y="1143000"/>
            <a:ext cx="4572000" cy="4572000"/>
          </a:xfrm>
          <a:prstGeom prst="roundRect">
            <a:avLst>
              <a:gd name="adj" fmla="val 20000"/>
            </a:avLst>
          </a:prstGeom>
          <a:noFill/>
          <a:ln w="9525">
            <a:solidFill>
              <a:srgbClr val="6B8F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144149" y="2032025"/>
            <a:ext cx="2793950" cy="2793950"/>
          </a:xfrm>
          <a:prstGeom prst="roundRect">
            <a:avLst>
              <a:gd name="adj" fmla="val 32728"/>
            </a:avLst>
          </a:prstGeom>
          <a:noFill/>
          <a:ln w="9525">
            <a:solidFill>
              <a:srgbClr val="6B8F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900220" y="2453664"/>
            <a:ext cx="2321397" cy="203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0"/>
              </a:lnSpc>
              <a:buNone/>
            </a:pPr>
            <a:r>
              <a:rPr lang="en-US" sz="16000" dirty="0">
                <a:solidFill>
                  <a:srgbClr val="6B8F71">
                    <a:alpha val="4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&gt;_</a:t>
            </a:r>
            <a:endParaRPr lang="en-US" sz="16000" dirty="0"/>
          </a:p>
        </p:txBody>
      </p:sp>
      <p:sp>
        <p:nvSpPr>
          <p:cNvPr id="13" name="Text 11"/>
          <p:cNvSpPr/>
          <p:nvPr/>
        </p:nvSpPr>
        <p:spPr>
          <a:xfrm>
            <a:off x="11267480" y="6388150"/>
            <a:ext cx="3731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8C2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09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0188" y="0"/>
            <a:ext cx="0" cy="6858000"/>
          </a:xfrm>
          <a:prstGeom prst="line">
            <a:avLst/>
          </a:prstGeom>
          <a:noFill/>
          <a:ln w="9525">
            <a:solidFill>
              <a:srgbClr val="6B8F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1143744"/>
            <a:ext cx="221832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8F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 I · 认识 TMUX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9600" y="1597670"/>
            <a:ext cx="22183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8C2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tmux?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09600" y="1851571"/>
            <a:ext cx="2218322" cy="867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6"/>
              </a:lnSpc>
              <a:buNone/>
            </a:pPr>
            <a:r>
              <a:rPr lang="en-US" sz="2800" dirty="0">
                <a:solidFill>
                  <a:srgbClr val="2D34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一个终端，</a:t>
            </a:r>
            <a:endParaRPr lang="en-US" sz="2800" dirty="0"/>
          </a:p>
          <a:p>
            <a:pPr algn="l" indent="0" marL="0">
              <a:lnSpc>
                <a:spcPts val="3416"/>
              </a:lnSpc>
              <a:buNone/>
            </a:pPr>
            <a:r>
              <a:rPr lang="en-US" sz="2800" dirty="0">
                <a:solidFill>
                  <a:srgbClr val="2D34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无限可能。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09600" y="2871341"/>
            <a:ext cx="2218322" cy="995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8"/>
              </a:lnSpc>
              <a:buNone/>
            </a:pPr>
            <a:r>
              <a:rPr lang="en-US" sz="95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tmux 是一个终端复用器（Terminal Multiplexer），它让你在单个终端窗口中管理多个会话。断开 SSH 连接后，程序继续运行——重新连上，一切如初。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09600" y="4222552"/>
            <a:ext cx="2174825" cy="1542604"/>
          </a:xfrm>
          <a:prstGeom prst="roundRect">
            <a:avLst>
              <a:gd name="adj" fmla="val 8233"/>
            </a:avLst>
          </a:prstGeom>
          <a:solidFill>
            <a:srgbClr val="FFFFFF">
              <a:alpha val="50000"/>
            </a:srgbClr>
          </a:solidFill>
          <a:ln w="9525">
            <a:solidFill>
              <a:srgbClr val="A8B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22275" y="4409777"/>
            <a:ext cx="1784464" cy="942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00" dirty="0">
                <a:solidFill>
                  <a:srgbClr val="6B8F7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“tmux 让你可以在远程服务器上开一个持久化的工作区，关掉笔记本、换个地方、重新 SSH 上去——所有窗口、分屏、运行中的程序都还在。”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275" y="5454104"/>
            <a:ext cx="17844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0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tmux 官方手册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777292" y="2587079"/>
            <a:ext cx="3710866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100" dirty="0">
                <a:solidFill>
                  <a:srgbClr val="6B8F71">
                    <a:alpha val="3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🖼 待补：tmux 多面板截图</a:t>
            </a:r>
            <a:endParaRPr lang="en-US" sz="1100" dirty="0"/>
          </a:p>
          <a:p>
            <a:pPr algn="ctr" indent="0" marL="0">
              <a:lnSpc>
                <a:spcPts val="1980"/>
              </a:lnSpc>
              <a:buNone/>
            </a:pPr>
            <a:r>
              <a:rPr lang="en-US" sz="1100" dirty="0">
                <a:solidFill>
                  <a:srgbClr val="6B8F71">
                    <a:alpha val="3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建议 16:10 · 不低于 1200px 宽 · 三 Pane 并排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32150" y="4375249"/>
            <a:ext cx="2565350" cy="1079153"/>
          </a:xfrm>
          <a:prstGeom prst="roundRect">
            <a:avLst>
              <a:gd name="adj" fmla="val 11768"/>
            </a:avLst>
          </a:prstGeom>
          <a:solidFill>
            <a:srgbClr val="FFFFFF">
              <a:alpha val="45000"/>
            </a:srgbClr>
          </a:solidFill>
          <a:ln w="9525">
            <a:solidFill>
              <a:srgbClr val="A8B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844826" y="4562475"/>
            <a:ext cx="228600" cy="19050"/>
          </a:xfrm>
          <a:prstGeom prst="roundRect">
            <a:avLst>
              <a:gd name="adj" fmla="val 66667"/>
            </a:avLst>
          </a:prstGeom>
          <a:solidFill>
            <a:srgbClr val="6B8F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844826" y="4708475"/>
            <a:ext cx="2182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D34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持久会话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4826" y="4971901"/>
            <a:ext cx="21828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3"/>
              </a:lnSpc>
              <a:buNone/>
            </a:pPr>
            <a:r>
              <a:rPr lang="en-US" sz="75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SSH 断开后 Session 继续在后台运行，重连即恢复。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349901" y="4375249"/>
            <a:ext cx="2565499" cy="1079153"/>
          </a:xfrm>
          <a:prstGeom prst="roundRect">
            <a:avLst>
              <a:gd name="adj" fmla="val 11768"/>
            </a:avLst>
          </a:prstGeom>
          <a:solidFill>
            <a:srgbClr val="FFFFFF">
              <a:alpha val="45000"/>
            </a:srgbClr>
          </a:solidFill>
          <a:ln w="9525">
            <a:solidFill>
              <a:srgbClr val="A8B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562576" y="4562475"/>
            <a:ext cx="228600" cy="19050"/>
          </a:xfrm>
          <a:prstGeom prst="roundRect">
            <a:avLst>
              <a:gd name="adj" fmla="val 66667"/>
            </a:avLst>
          </a:prstGeom>
          <a:solidFill>
            <a:srgbClr val="6B8F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562576" y="4708475"/>
            <a:ext cx="21829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D34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多窗分屏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62576" y="4971901"/>
            <a:ext cx="218295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3"/>
              </a:lnSpc>
              <a:buNone/>
            </a:pPr>
            <a:r>
              <a:rPr lang="en-US" sz="75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 内任意切割 Pane，一屏同时看日志、编辑、监控。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9067800" y="4375249"/>
            <a:ext cx="2565350" cy="1079153"/>
          </a:xfrm>
          <a:prstGeom prst="roundRect">
            <a:avLst>
              <a:gd name="adj" fmla="val 11768"/>
            </a:avLst>
          </a:prstGeom>
          <a:solidFill>
            <a:srgbClr val="FFFFFF">
              <a:alpha val="45000"/>
            </a:srgbClr>
          </a:solidFill>
          <a:ln w="9525">
            <a:solidFill>
              <a:srgbClr val="A8B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280475" y="4562475"/>
            <a:ext cx="228600" cy="19050"/>
          </a:xfrm>
          <a:prstGeom prst="roundRect">
            <a:avLst>
              <a:gd name="adj" fmla="val 66667"/>
            </a:avLst>
          </a:prstGeom>
          <a:solidFill>
            <a:srgbClr val="6B8F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280475" y="4708475"/>
            <a:ext cx="2182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D34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团队协作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280475" y="4971901"/>
            <a:ext cx="21828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3"/>
              </a:lnSpc>
              <a:buNone/>
            </a:pPr>
            <a:r>
              <a:rPr lang="en-US" sz="75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两人同时 attach 同一 Session，最轻量的结对编程方案。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226850" y="6369100"/>
            <a:ext cx="4145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8C2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09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0188" y="0"/>
            <a:ext cx="0" cy="6858000"/>
          </a:xfrm>
          <a:prstGeom prst="line">
            <a:avLst/>
          </a:prstGeom>
          <a:noFill/>
          <a:ln w="9525">
            <a:solidFill>
              <a:srgbClr val="6B8F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1442442"/>
            <a:ext cx="221832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800"/>
              </a:spcAft>
              <a:buNone/>
            </a:pPr>
            <a:r>
              <a:rPr lang="en-US" sz="700" dirty="0">
                <a:solidFill>
                  <a:srgbClr val="6B8F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 I · 核心概念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9600" y="1921818"/>
            <a:ext cx="2218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900" dirty="0">
                <a:solidFill>
                  <a:srgbClr val="C8C2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Concepts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600" y="2191643"/>
            <a:ext cx="221832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50"/>
              </a:lnSpc>
              <a:spcAft>
                <a:spcPts val="1400"/>
              </a:spcAft>
              <a:buNone/>
            </a:pPr>
            <a:r>
              <a:rPr lang="en-US" sz="3000" b="1" dirty="0">
                <a:solidFill>
                  <a:srgbClr val="2D34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三大支柱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09600" y="2845594"/>
            <a:ext cx="2218322" cy="796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8"/>
              </a:lnSpc>
              <a:spcAft>
                <a:spcPts val="3200"/>
              </a:spcAft>
              <a:buNone/>
            </a:pPr>
            <a:r>
              <a:rPr lang="en-US" sz="95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tmux 的层级模型极其清晰。理解这三个概念，就理解了 tmux 的全部——从最外层的持久会话，到最内层的分屏操作。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09600" y="4048423"/>
            <a:ext cx="2174825" cy="1418034"/>
          </a:xfrm>
          <a:prstGeom prst="roundRect">
            <a:avLst>
              <a:gd name="adj" fmla="val 8956"/>
            </a:avLst>
          </a:prstGeom>
          <a:solidFill>
            <a:srgbClr val="FFFFFF">
              <a:alpha val="50000"/>
            </a:srgbClr>
          </a:solidFill>
          <a:ln w="9525">
            <a:solidFill>
              <a:srgbClr val="A8B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47725" y="4261098"/>
            <a:ext cx="17325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650" dirty="0">
                <a:solidFill>
                  <a:srgbClr val="A8B5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核心哲学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847725" y="4476899"/>
            <a:ext cx="1732547" cy="776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每一层都是上一层「状态的容器」。Session 承载 Window，Window 承载 Pane——分离时整棵树原地存活。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32150" y="2477393"/>
            <a:ext cx="2531566" cy="2004715"/>
          </a:xfrm>
          <a:prstGeom prst="roundRect">
            <a:avLst>
              <a:gd name="adj" fmla="val 7602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A8B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895576" y="2766268"/>
            <a:ext cx="304800" cy="25301"/>
          </a:xfrm>
          <a:prstGeom prst="roundRect">
            <a:avLst>
              <a:gd name="adj" fmla="val 50196"/>
            </a:avLst>
          </a:prstGeom>
          <a:solidFill>
            <a:srgbClr val="6B8F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895576" y="3020169"/>
            <a:ext cx="20448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650" dirty="0">
                <a:solidFill>
                  <a:srgbClr val="A8B5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 1 · 最外层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3895576" y="3197870"/>
            <a:ext cx="2044809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D34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Session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95576" y="3568601"/>
            <a:ext cx="2044809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会话是最顶层的容器。一个 Session 包含多个 Window。你可以 detach（分离）一个 Session——断开连接后它仍在后台运行。这就是 tmux 最核心的价值。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66867" y="2477393"/>
            <a:ext cx="2531566" cy="2004715"/>
          </a:xfrm>
          <a:prstGeom prst="roundRect">
            <a:avLst>
              <a:gd name="adj" fmla="val 7602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A8B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630293" y="2766268"/>
            <a:ext cx="304800" cy="25301"/>
          </a:xfrm>
          <a:prstGeom prst="roundRect">
            <a:avLst>
              <a:gd name="adj" fmla="val 50196"/>
            </a:avLst>
          </a:prstGeom>
          <a:solidFill>
            <a:srgbClr val="6B8F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630293" y="3020169"/>
            <a:ext cx="20448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650" dirty="0">
                <a:solidFill>
                  <a:srgbClr val="A8B5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 2 · 中间层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6630293" y="3197870"/>
            <a:ext cx="2044809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D34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Window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30293" y="3568601"/>
            <a:ext cx="2044809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窗口类似于浏览器 Tab。每个 Window 占据整个屏幕，你可以在不同 Window 之间切换。一个 Session 可以管理数十个 Window。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101584" y="2477393"/>
            <a:ext cx="2531715" cy="2004715"/>
          </a:xfrm>
          <a:prstGeom prst="roundRect">
            <a:avLst>
              <a:gd name="adj" fmla="val 7602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A8B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365010" y="2766268"/>
            <a:ext cx="304800" cy="25301"/>
          </a:xfrm>
          <a:prstGeom prst="roundRect">
            <a:avLst>
              <a:gd name="adj" fmla="val 50196"/>
            </a:avLst>
          </a:prstGeom>
          <a:solidFill>
            <a:srgbClr val="6B8F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365010" y="3020169"/>
            <a:ext cx="20449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650" dirty="0">
                <a:solidFill>
                  <a:srgbClr val="A8B5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 3 · 最内层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9365010" y="3197870"/>
            <a:ext cx="2044961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D34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Pane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65010" y="3568601"/>
            <a:ext cx="2044961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面板是 Window 内的分屏。可以把 Window 切成左右、上下、任意组合的 Pane，每个运行独立的 shell——实现真正的「一屏多用」。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247239" y="6388150"/>
            <a:ext cx="3937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8C2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09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0188" y="0"/>
            <a:ext cx="0" cy="6858000"/>
          </a:xfrm>
          <a:prstGeom prst="line">
            <a:avLst/>
          </a:prstGeom>
          <a:noFill/>
          <a:ln w="9525">
            <a:solidFill>
              <a:srgbClr val="6B8F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1639788"/>
            <a:ext cx="22702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8F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 I · 常用命令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9600" y="2068413"/>
            <a:ext cx="22702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8C2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Essential Commands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09600" y="2303264"/>
            <a:ext cx="2270239" cy="805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dirty="0">
                <a:solidFill>
                  <a:srgbClr val="2D34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从创建</a:t>
            </a:r>
            <a:endParaRPr lang="en-US" sz="2600" dirty="0"/>
          </a:p>
          <a:p>
            <a:pPr algn="l" indent="0" marL="0">
              <a:lnSpc>
                <a:spcPts val="3172"/>
              </a:lnSpc>
              <a:buNone/>
            </a:pPr>
            <a:r>
              <a:rPr lang="en-US" sz="2600" dirty="0">
                <a:solidFill>
                  <a:srgbClr val="2D34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到恢复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09600" y="3235970"/>
            <a:ext cx="2270239" cy="56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tmux 的命令行设计遵循一致的命名模式。记住两条主干：Session 的生命周期管理，和 Window/Pane 的日常操作。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9600" y="4157216"/>
            <a:ext cx="2225725" cy="1111597"/>
          </a:xfrm>
          <a:prstGeom prst="roundRect">
            <a:avLst>
              <a:gd name="adj" fmla="val 11425"/>
            </a:avLst>
          </a:prstGeom>
          <a:solidFill>
            <a:srgbClr val="FFFFFF">
              <a:alpha val="50000"/>
            </a:srgbClr>
          </a:solidFill>
          <a:ln w="9525">
            <a:solidFill>
              <a:srgbClr val="A8B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22275" y="4344442"/>
            <a:ext cx="18363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650" dirty="0">
                <a:solidFill>
                  <a:srgbClr val="A8B5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提示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822275" y="4547592"/>
            <a:ext cx="1836381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所有 tmux 命令都支持 tab 补全。输入 tmux 后按 Tab 即可浏览全部子命令。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581251" y="2303562"/>
            <a:ext cx="82130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A8B5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· 会话管理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3581251" y="2494062"/>
            <a:ext cx="1529209" cy="871538"/>
          </a:xfrm>
          <a:prstGeom prst="roundRect">
            <a:avLst>
              <a:gd name="adj" fmla="val 11658"/>
            </a:avLst>
          </a:prstGeom>
          <a:solidFill>
            <a:srgbClr val="FFFFFF">
              <a:alpha val="50000"/>
            </a:srgbClr>
          </a:solidFill>
          <a:ln w="9525">
            <a:solidFill>
              <a:srgbClr val="A8B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755827" y="2655987"/>
            <a:ext cx="12036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i="1" dirty="0">
                <a:solidFill>
                  <a:srgbClr val="B0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755827" y="2843213"/>
            <a:ext cx="120365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D34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新建会话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55827" y="3074938"/>
            <a:ext cx="1203659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6B8F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tmux new -s name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211961" y="2494062"/>
            <a:ext cx="1529209" cy="871538"/>
          </a:xfrm>
          <a:prstGeom prst="roundRect">
            <a:avLst>
              <a:gd name="adj" fmla="val 11658"/>
            </a:avLst>
          </a:prstGeom>
          <a:solidFill>
            <a:srgbClr val="FFFFFF">
              <a:alpha val="50000"/>
            </a:srgbClr>
          </a:solidFill>
          <a:ln w="9525">
            <a:solidFill>
              <a:srgbClr val="A8B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386536" y="2655987"/>
            <a:ext cx="12036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i="1" dirty="0">
                <a:solidFill>
                  <a:srgbClr val="B0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386536" y="2843213"/>
            <a:ext cx="120365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D34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分离会话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86536" y="3074938"/>
            <a:ext cx="1203659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6B8F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Ctrl+B, D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842671" y="2494062"/>
            <a:ext cx="1529209" cy="871538"/>
          </a:xfrm>
          <a:prstGeom prst="roundRect">
            <a:avLst>
              <a:gd name="adj" fmla="val 11658"/>
            </a:avLst>
          </a:prstGeom>
          <a:solidFill>
            <a:srgbClr val="FFFFFF">
              <a:alpha val="50000"/>
            </a:srgbClr>
          </a:solidFill>
          <a:ln w="9525">
            <a:solidFill>
              <a:srgbClr val="A8B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017246" y="2655987"/>
            <a:ext cx="12036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i="1" dirty="0">
                <a:solidFill>
                  <a:srgbClr val="B0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017246" y="2843213"/>
            <a:ext cx="120365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D34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列出会话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17246" y="3074938"/>
            <a:ext cx="1203659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6B8F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tmux ls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473380" y="2494062"/>
            <a:ext cx="1529209" cy="871538"/>
          </a:xfrm>
          <a:prstGeom prst="roundRect">
            <a:avLst>
              <a:gd name="adj" fmla="val 11658"/>
            </a:avLst>
          </a:prstGeom>
          <a:solidFill>
            <a:srgbClr val="FFFFFF">
              <a:alpha val="50000"/>
            </a:srgbClr>
          </a:solidFill>
          <a:ln w="9525">
            <a:solidFill>
              <a:srgbClr val="A8B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647956" y="2655987"/>
            <a:ext cx="12036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i="1" dirty="0">
                <a:solidFill>
                  <a:srgbClr val="B0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647956" y="2843213"/>
            <a:ext cx="120365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D34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重新接入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647956" y="3074938"/>
            <a:ext cx="1203659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6B8F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tmux attach -t name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0104090" y="2494062"/>
            <a:ext cx="1529209" cy="871538"/>
          </a:xfrm>
          <a:prstGeom prst="roundRect">
            <a:avLst>
              <a:gd name="adj" fmla="val 11658"/>
            </a:avLst>
          </a:prstGeom>
          <a:solidFill>
            <a:srgbClr val="FFFFFF">
              <a:alpha val="50000"/>
            </a:srgbClr>
          </a:solidFill>
          <a:ln w="9525">
            <a:solidFill>
              <a:srgbClr val="A8B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0278666" y="2655987"/>
            <a:ext cx="12036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i="1" dirty="0">
                <a:solidFill>
                  <a:srgbClr val="B0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278666" y="2843213"/>
            <a:ext cx="120365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D34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杀掉会话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278666" y="3074938"/>
            <a:ext cx="1203659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6B8F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tmux kill-session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581251" y="3543300"/>
            <a:ext cx="82130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A8B5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 &amp; PANE · 窗口与面板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3581251" y="3733800"/>
            <a:ext cx="1529209" cy="871538"/>
          </a:xfrm>
          <a:prstGeom prst="roundRect">
            <a:avLst>
              <a:gd name="adj" fmla="val 11658"/>
            </a:avLst>
          </a:prstGeom>
          <a:solidFill>
            <a:srgbClr val="FFFFFF">
              <a:alpha val="50000"/>
            </a:srgbClr>
          </a:solidFill>
          <a:ln w="9525">
            <a:solidFill>
              <a:srgbClr val="A8B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755827" y="3895725"/>
            <a:ext cx="12036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i="1" dirty="0">
                <a:solidFill>
                  <a:srgbClr val="B0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755827" y="4082951"/>
            <a:ext cx="120365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D34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新建窗口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755827" y="4314676"/>
            <a:ext cx="1203659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6B8F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Ctrl+B, C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211961" y="3733800"/>
            <a:ext cx="1529209" cy="871538"/>
          </a:xfrm>
          <a:prstGeom prst="roundRect">
            <a:avLst>
              <a:gd name="adj" fmla="val 11658"/>
            </a:avLst>
          </a:prstGeom>
          <a:solidFill>
            <a:srgbClr val="FFFFFF">
              <a:alpha val="50000"/>
            </a:srgbClr>
          </a:solidFill>
          <a:ln w="9525">
            <a:solidFill>
              <a:srgbClr val="A8B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386536" y="3895725"/>
            <a:ext cx="12036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i="1" dirty="0">
                <a:solidFill>
                  <a:srgbClr val="B0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386536" y="4082951"/>
            <a:ext cx="120365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D34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水平分屏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86536" y="4314676"/>
            <a:ext cx="1203659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6B8F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Ctrl+B, "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842671" y="3733800"/>
            <a:ext cx="1529209" cy="871538"/>
          </a:xfrm>
          <a:prstGeom prst="roundRect">
            <a:avLst>
              <a:gd name="adj" fmla="val 11658"/>
            </a:avLst>
          </a:prstGeom>
          <a:solidFill>
            <a:srgbClr val="FFFFFF">
              <a:alpha val="50000"/>
            </a:srgbClr>
          </a:solidFill>
          <a:ln w="9525">
            <a:solidFill>
              <a:srgbClr val="A8B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017246" y="3895725"/>
            <a:ext cx="12036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i="1" dirty="0">
                <a:solidFill>
                  <a:srgbClr val="B0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017246" y="4082951"/>
            <a:ext cx="120365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D34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垂直分屏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017246" y="4314676"/>
            <a:ext cx="1203659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6B8F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Ctrl+B, %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8473380" y="3733800"/>
            <a:ext cx="1529209" cy="871538"/>
          </a:xfrm>
          <a:prstGeom prst="roundRect">
            <a:avLst>
              <a:gd name="adj" fmla="val 11658"/>
            </a:avLst>
          </a:prstGeom>
          <a:solidFill>
            <a:srgbClr val="FFFFFF">
              <a:alpha val="50000"/>
            </a:srgbClr>
          </a:solidFill>
          <a:ln w="9525">
            <a:solidFill>
              <a:srgbClr val="A8B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8647956" y="3895725"/>
            <a:ext cx="12036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i="1" dirty="0">
                <a:solidFill>
                  <a:srgbClr val="B0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647956" y="4082951"/>
            <a:ext cx="120365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D34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切换面板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647956" y="4314676"/>
            <a:ext cx="1203659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6B8F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Ctrl+B, ←↑↓→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10104090" y="3733800"/>
            <a:ext cx="1529209" cy="871538"/>
          </a:xfrm>
          <a:prstGeom prst="roundRect">
            <a:avLst>
              <a:gd name="adj" fmla="val 11658"/>
            </a:avLst>
          </a:prstGeom>
          <a:solidFill>
            <a:srgbClr val="FFFFFF">
              <a:alpha val="50000"/>
            </a:srgbClr>
          </a:solidFill>
          <a:ln w="9525">
            <a:solidFill>
              <a:srgbClr val="A8B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10278666" y="3895725"/>
            <a:ext cx="12036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i="1" dirty="0">
                <a:solidFill>
                  <a:srgbClr val="B0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278666" y="4082951"/>
            <a:ext cx="120365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D34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关闭面板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278666" y="4314676"/>
            <a:ext cx="1203659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6B8F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exit 或 Ctrl+D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11245007" y="6388150"/>
            <a:ext cx="3960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8C2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09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0188" y="0"/>
            <a:ext cx="0" cy="6858000"/>
          </a:xfrm>
          <a:prstGeom prst="line">
            <a:avLst/>
          </a:prstGeom>
          <a:noFill/>
          <a:ln w="9525">
            <a:solidFill>
              <a:srgbClr val="6B8F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1298972"/>
            <a:ext cx="22442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8F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 II · 快捷键速查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9600" y="1752898"/>
            <a:ext cx="22442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8C2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Bindings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09600" y="1987748"/>
            <a:ext cx="2244281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2D34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一切始于</a:t>
            </a:r>
            <a:endParaRPr lang="en-US" sz="28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2D34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Ctrl+B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09600" y="2967782"/>
            <a:ext cx="2244281" cy="56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tmux 所有快捷键都以前缀键开始。按下前缀键后释放，再按功能键——两步操作，防止快捷键冲突。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9600" y="3863578"/>
            <a:ext cx="2200275" cy="364927"/>
          </a:xfrm>
          <a:prstGeom prst="roundRect">
            <a:avLst>
              <a:gd name="adj" fmla="val 69603"/>
            </a:avLst>
          </a:prstGeom>
          <a:solidFill>
            <a:srgbClr val="6B8F71">
              <a:alpha val="8000"/>
            </a:srgbClr>
          </a:solidFill>
          <a:ln w="9525">
            <a:solidFill>
              <a:srgbClr val="6B8F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96826" y="4001542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6B8F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87177" y="3974604"/>
            <a:ext cx="4478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8F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Ctrl+B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9600" y="4507855"/>
            <a:ext cx="2200275" cy="1102072"/>
          </a:xfrm>
          <a:prstGeom prst="roundRect">
            <a:avLst>
              <a:gd name="adj" fmla="val 11524"/>
            </a:avLst>
          </a:prstGeom>
          <a:solidFill>
            <a:srgbClr val="FFFFFF">
              <a:alpha val="50000"/>
            </a:srgbClr>
          </a:solidFill>
          <a:ln w="9525">
            <a:solidFill>
              <a:srgbClr val="A8B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22275" y="4695081"/>
            <a:ext cx="1810423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“记住 Ctrl+B, ? ——这条命令列出所有快捷键。你不需要背下来，需要时查就好。”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275" y="5317927"/>
            <a:ext cx="181042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0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veteran tmux user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581251" y="1986260"/>
            <a:ext cx="8052048" cy="0"/>
          </a:xfrm>
          <a:prstGeom prst="line">
            <a:avLst/>
          </a:prstGeom>
          <a:noFill/>
          <a:ln w="9525">
            <a:solidFill>
              <a:srgbClr val="A8B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81251" y="1697385"/>
            <a:ext cx="18134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Ctrl+B, C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511552" y="1692622"/>
            <a:ext cx="52597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新建窗口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804294" y="1721197"/>
            <a:ext cx="82900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B0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581251" y="2411611"/>
            <a:ext cx="8052048" cy="0"/>
          </a:xfrm>
          <a:prstGeom prst="line">
            <a:avLst/>
          </a:prstGeom>
          <a:noFill/>
          <a:ln w="9525">
            <a:solidFill>
              <a:srgbClr val="A8B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81251" y="2122736"/>
            <a:ext cx="18134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Ctrl+B, ,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511552" y="2117973"/>
            <a:ext cx="52597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重命名当前窗口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04294" y="2146548"/>
            <a:ext cx="82900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B0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581251" y="2836962"/>
            <a:ext cx="8052048" cy="0"/>
          </a:xfrm>
          <a:prstGeom prst="line">
            <a:avLst/>
          </a:prstGeom>
          <a:noFill/>
          <a:ln w="9525">
            <a:solidFill>
              <a:srgbClr val="A8B5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81251" y="2548086"/>
            <a:ext cx="18134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Ctrl+B, N / P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511552" y="2543324"/>
            <a:ext cx="52597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切换到下一 / 上一窗口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04294" y="2571899"/>
            <a:ext cx="82900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B0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581251" y="3262313"/>
            <a:ext cx="8052048" cy="0"/>
          </a:xfrm>
          <a:prstGeom prst="line">
            <a:avLst/>
          </a:prstGeom>
          <a:noFill/>
          <a:ln w="9525">
            <a:solidFill>
              <a:srgbClr val="A8B5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81251" y="2973437"/>
            <a:ext cx="18134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Ctrl+B, "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511552" y="2968675"/>
            <a:ext cx="52597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水平分割面板（上下）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04294" y="2997250"/>
            <a:ext cx="82900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B0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Pane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581251" y="3687663"/>
            <a:ext cx="8052048" cy="0"/>
          </a:xfrm>
          <a:prstGeom prst="line">
            <a:avLst/>
          </a:prstGeom>
          <a:noFill/>
          <a:ln w="9525">
            <a:solidFill>
              <a:srgbClr val="A8B5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81251" y="3398788"/>
            <a:ext cx="18134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Ctrl+B, %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511552" y="3394025"/>
            <a:ext cx="52597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垂直分割面板（左右）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04294" y="3422600"/>
            <a:ext cx="82900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B0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Pane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581251" y="4113014"/>
            <a:ext cx="8052048" cy="0"/>
          </a:xfrm>
          <a:prstGeom prst="line">
            <a:avLst/>
          </a:prstGeom>
          <a:noFill/>
          <a:ln w="9525">
            <a:solidFill>
              <a:srgbClr val="A8B5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81251" y="3824139"/>
            <a:ext cx="18134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Ctrl+B, X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511552" y="3819376"/>
            <a:ext cx="52597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关闭当前面板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804294" y="3847951"/>
            <a:ext cx="82900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B0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Pane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581251" y="4538365"/>
            <a:ext cx="8052048" cy="0"/>
          </a:xfrm>
          <a:prstGeom prst="line">
            <a:avLst/>
          </a:prstGeom>
          <a:noFill/>
          <a:ln w="9525">
            <a:solidFill>
              <a:srgbClr val="A8B5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81251" y="4249489"/>
            <a:ext cx="18134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Ctrl+B, 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511552" y="4244727"/>
            <a:ext cx="52597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分离当前会话（后台运行）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804294" y="4273302"/>
            <a:ext cx="82900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B0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581251" y="4963716"/>
            <a:ext cx="8052048" cy="0"/>
          </a:xfrm>
          <a:prstGeom prst="line">
            <a:avLst/>
          </a:prstGeom>
          <a:noFill/>
          <a:ln w="9525">
            <a:solidFill>
              <a:srgbClr val="A8B5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81251" y="4674840"/>
            <a:ext cx="18134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Ctrl+B, [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511552" y="4670078"/>
            <a:ext cx="52597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进入滚动 / 复制模式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804294" y="4698653"/>
            <a:ext cx="82900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B0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Scroll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581251" y="5389066"/>
            <a:ext cx="8052048" cy="0"/>
          </a:xfrm>
          <a:prstGeom prst="line">
            <a:avLst/>
          </a:prstGeom>
          <a:noFill/>
          <a:ln w="9525">
            <a:solidFill>
              <a:srgbClr val="A8B5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81251" y="5100191"/>
            <a:ext cx="18134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Ctrl+B, ?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511552" y="5095429"/>
            <a:ext cx="52597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查看所有快捷键列表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804294" y="5124004"/>
            <a:ext cx="82900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B0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11249769" y="6388150"/>
            <a:ext cx="39120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8C2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09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0188" y="0"/>
            <a:ext cx="0" cy="6858000"/>
          </a:xfrm>
          <a:prstGeom prst="line">
            <a:avLst/>
          </a:prstGeom>
          <a:noFill/>
          <a:ln w="9525">
            <a:solidFill>
              <a:srgbClr val="6B8F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2267843"/>
            <a:ext cx="22702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8F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 II · 效率对比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9600" y="2721769"/>
            <a:ext cx="22702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8C2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&amp; After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09600" y="2975670"/>
            <a:ext cx="2270239" cy="805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dirty="0">
                <a:solidFill>
                  <a:srgbClr val="2D34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有了 tmux</a:t>
            </a:r>
            <a:endParaRPr lang="en-US" sz="2600" dirty="0"/>
          </a:p>
          <a:p>
            <a:pPr algn="l" indent="0" marL="0">
              <a:lnSpc>
                <a:spcPts val="3172"/>
              </a:lnSpc>
              <a:buNone/>
            </a:pPr>
            <a:r>
              <a:rPr lang="en-US" sz="2600" dirty="0">
                <a:solidFill>
                  <a:srgbClr val="2D34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一切都变了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09600" y="3908375"/>
            <a:ext cx="2270239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同样的远程工作场景，没有 tmux 和有了 tmux 之后，是两种完全不同的体验。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530501" y="2121694"/>
            <a:ext cx="3937099" cy="2716113"/>
          </a:xfrm>
          <a:prstGeom prst="roundRect">
            <a:avLst>
              <a:gd name="adj" fmla="val 5611"/>
            </a:avLst>
          </a:prstGeom>
          <a:solidFill>
            <a:srgbClr val="FFFFFF">
              <a:alpha val="35000"/>
            </a:srgbClr>
          </a:solidFill>
          <a:ln w="9525">
            <a:solidFill>
              <a:srgbClr val="A8B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793927" y="2410569"/>
            <a:ext cx="347845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C8C2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· 没有 TMUX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93927" y="2702570"/>
            <a:ext cx="347845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多窗口地狱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93927" y="3153221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C8C2B8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855839" y="3180159"/>
            <a:ext cx="549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0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×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073128" y="3127921"/>
            <a:ext cx="1319183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8"/>
              </a:lnSpc>
              <a:buNone/>
            </a:pPr>
            <a:r>
              <a:rPr lang="en-US" sz="850" dirty="0">
                <a:solidFill>
                  <a:srgbClr val="B0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SSH 断开 → 所有任务丢失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793927" y="3457724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C8C2B8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855839" y="3484662"/>
            <a:ext cx="549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0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×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073128" y="3432423"/>
            <a:ext cx="1473416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8"/>
              </a:lnSpc>
              <a:buNone/>
            </a:pPr>
            <a:r>
              <a:rPr lang="en-US" sz="850" dirty="0">
                <a:solidFill>
                  <a:srgbClr val="B0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需要开 N 个终端窗口来回切换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793927" y="3762226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C8C2B8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855839" y="3789164"/>
            <a:ext cx="549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0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×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073128" y="3736925"/>
            <a:ext cx="1571027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8"/>
              </a:lnSpc>
              <a:buNone/>
            </a:pPr>
            <a:r>
              <a:rPr lang="en-US" sz="850" dirty="0">
                <a:solidFill>
                  <a:srgbClr val="B0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无法一屏同时看日志 + 编辑代码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793927" y="4066729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C8C2B8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855839" y="4093666"/>
            <a:ext cx="549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0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×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073128" y="4041428"/>
            <a:ext cx="1541121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8"/>
              </a:lnSpc>
              <a:buNone/>
            </a:pPr>
            <a:r>
              <a:rPr lang="en-US" sz="850" dirty="0">
                <a:solidFill>
                  <a:srgbClr val="B0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长任务跑一半，网络抖动全白费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793927" y="4371231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C8C2B8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855839" y="4398169"/>
            <a:ext cx="549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0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×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073128" y="4345930"/>
            <a:ext cx="1659377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8"/>
              </a:lnSpc>
              <a:buNone/>
            </a:pPr>
            <a:r>
              <a:rPr lang="en-US" sz="850" dirty="0">
                <a:solidFill>
                  <a:srgbClr val="B0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团队协作靠“你帮我看看这台机器”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696200" y="2121694"/>
            <a:ext cx="3937099" cy="2716113"/>
          </a:xfrm>
          <a:prstGeom prst="roundRect">
            <a:avLst>
              <a:gd name="adj" fmla="val 5611"/>
            </a:avLst>
          </a:prstGeom>
          <a:solidFill>
            <a:srgbClr val="6B8F71">
              <a:alpha val="5000"/>
            </a:srgbClr>
          </a:solidFill>
          <a:ln w="9525">
            <a:solidFill>
              <a:srgbClr val="6B8F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959626" y="2410569"/>
            <a:ext cx="347845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6B8F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· 有了 TMUX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7959626" y="2702570"/>
            <a:ext cx="347845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一切尽在掌控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959626" y="3153221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6B8F71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014395" y="3180159"/>
            <a:ext cx="69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8F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238827" y="3127921"/>
            <a:ext cx="1539300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8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SSH 断开重连 → 会话完好如初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959626" y="3457724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6B8F71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014395" y="3484662"/>
            <a:ext cx="69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8F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8238827" y="3432423"/>
            <a:ext cx="1533531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8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一个终端窗口管理所有 Session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959626" y="3762226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6B8F71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014395" y="3789164"/>
            <a:ext cx="69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8F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238827" y="3736925"/>
            <a:ext cx="1871448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8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分屏：左看日志，右写代码，顶跑监控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959626" y="4066729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6B8F71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014395" y="4093666"/>
            <a:ext cx="69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8F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8238827" y="4041428"/>
            <a:ext cx="1541121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8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长任务安心跑，关电脑也不中断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959626" y="4371231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6B8F71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8014395" y="4398169"/>
            <a:ext cx="69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8F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8238827" y="4345930"/>
            <a:ext cx="2119497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8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Pair programming：两人接入同一 Session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1226850" y="6369100"/>
            <a:ext cx="4145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8C2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09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0188" y="0"/>
            <a:ext cx="0" cy="6858000"/>
          </a:xfrm>
          <a:prstGeom prst="line">
            <a:avLst/>
          </a:prstGeom>
          <a:noFill/>
          <a:ln w="9525">
            <a:solidFill>
              <a:srgbClr val="6B8F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1643063"/>
            <a:ext cx="22702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8F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 II · 实际场景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9600" y="2071688"/>
            <a:ext cx="22702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8C2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Real-world Usage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09600" y="2325588"/>
            <a:ext cx="2270239" cy="805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dirty="0">
                <a:solidFill>
                  <a:srgbClr val="2D34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每个人都在</a:t>
            </a:r>
            <a:endParaRPr lang="en-US" sz="2600" dirty="0"/>
          </a:p>
          <a:p>
            <a:pPr algn="l" indent="0" marL="0">
              <a:lnSpc>
                <a:spcPts val="3172"/>
              </a:lnSpc>
              <a:buNone/>
            </a:pPr>
            <a:r>
              <a:rPr lang="en-US" sz="2600" dirty="0">
                <a:solidFill>
                  <a:srgbClr val="2D34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用 tmux 做什么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09600" y="3258294"/>
            <a:ext cx="2270239" cy="56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从个人开发者到运维团队，tmux 的六个经典使用场景——覆盖了日常工作的方方面面。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9600" y="4154091"/>
            <a:ext cx="2225725" cy="1111597"/>
          </a:xfrm>
          <a:prstGeom prst="roundRect">
            <a:avLst>
              <a:gd name="adj" fmla="val 11425"/>
            </a:avLst>
          </a:prstGeom>
          <a:solidFill>
            <a:srgbClr val="FFFFFF">
              <a:alpha val="50000"/>
            </a:srgbClr>
          </a:solidFill>
          <a:ln w="9525">
            <a:solidFill>
              <a:srgbClr val="A8B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22275" y="4341316"/>
            <a:ext cx="18363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650" dirty="0">
                <a:solidFill>
                  <a:srgbClr val="A8B5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共通点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822275" y="4544467"/>
            <a:ext cx="1836381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所有场景都围绕同一个核心：让终端工作区脱离 SSH 连接的物理限制，成为独立存在的「虚拟桌面」。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530501" y="2346573"/>
            <a:ext cx="2616250" cy="1069628"/>
          </a:xfrm>
          <a:prstGeom prst="roundRect">
            <a:avLst>
              <a:gd name="adj" fmla="val 11873"/>
            </a:avLst>
          </a:prstGeom>
          <a:solidFill>
            <a:srgbClr val="FFFFFF">
              <a:alpha val="50000"/>
            </a:srgbClr>
          </a:solidFill>
          <a:ln w="9525">
            <a:solidFill>
              <a:srgbClr val="A8B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730526" y="2533799"/>
            <a:ext cx="228600" cy="19050"/>
          </a:xfrm>
          <a:prstGeom prst="roundRect">
            <a:avLst>
              <a:gd name="adj" fmla="val 66667"/>
            </a:avLst>
          </a:prstGeom>
          <a:solidFill>
            <a:srgbClr val="6B8F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730526" y="2679799"/>
            <a:ext cx="22605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D34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远程开发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730526" y="2933700"/>
            <a:ext cx="226052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3"/>
              </a:lnSpc>
              <a:buNone/>
            </a:pPr>
            <a:r>
              <a:rPr lang="en-US" sz="75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SSH 到开发机，在 tmux Session 中打开 Vim、数据库客户端、日志监控。网络断了也不怕。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273701" y="2346573"/>
            <a:ext cx="2616250" cy="1069628"/>
          </a:xfrm>
          <a:prstGeom prst="roundRect">
            <a:avLst>
              <a:gd name="adj" fmla="val 11873"/>
            </a:avLst>
          </a:prstGeom>
          <a:solidFill>
            <a:srgbClr val="FFFFFF">
              <a:alpha val="50000"/>
            </a:srgbClr>
          </a:solidFill>
          <a:ln w="9525">
            <a:solidFill>
              <a:srgbClr val="A8B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73726" y="2533799"/>
            <a:ext cx="228600" cy="19050"/>
          </a:xfrm>
          <a:prstGeom prst="roundRect">
            <a:avLst>
              <a:gd name="adj" fmla="val 66667"/>
            </a:avLst>
          </a:prstGeom>
          <a:solidFill>
            <a:srgbClr val="6B8F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73726" y="2679799"/>
            <a:ext cx="22605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D34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长期监控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73726" y="2933700"/>
            <a:ext cx="226052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3"/>
              </a:lnSpc>
              <a:buNone/>
            </a:pPr>
            <a:r>
              <a:rPr lang="en-US" sz="75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htop 看资源、tail -f 追日志、watch 定时刷新——三个 Pane 并排，关掉终端监控继续。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9016901" y="2346573"/>
            <a:ext cx="2616398" cy="1069628"/>
          </a:xfrm>
          <a:prstGeom prst="roundRect">
            <a:avLst>
              <a:gd name="adj" fmla="val 11873"/>
            </a:avLst>
          </a:prstGeom>
          <a:solidFill>
            <a:srgbClr val="FFFFFF">
              <a:alpha val="50000"/>
            </a:srgbClr>
          </a:solidFill>
          <a:ln w="9525">
            <a:solidFill>
              <a:srgbClr val="A8B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216926" y="2533799"/>
            <a:ext cx="228600" cy="19050"/>
          </a:xfrm>
          <a:prstGeom prst="roundRect">
            <a:avLst>
              <a:gd name="adj" fmla="val 66667"/>
            </a:avLst>
          </a:prstGeom>
          <a:solidFill>
            <a:srgbClr val="6B8F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216926" y="2679799"/>
            <a:ext cx="2260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D34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结对编程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216926" y="2933700"/>
            <a:ext cx="22606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3"/>
              </a:lnSpc>
              <a:buNone/>
            </a:pPr>
            <a:r>
              <a:rPr lang="en-US" sz="75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两人同时 attach 到同一个 tmux Session，输入同步显示——最轻量的远程协作方案。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530501" y="3543151"/>
            <a:ext cx="2616250" cy="1069628"/>
          </a:xfrm>
          <a:prstGeom prst="roundRect">
            <a:avLst>
              <a:gd name="adj" fmla="val 11873"/>
            </a:avLst>
          </a:prstGeom>
          <a:solidFill>
            <a:srgbClr val="FFFFFF">
              <a:alpha val="50000"/>
            </a:srgbClr>
          </a:solidFill>
          <a:ln w="9525">
            <a:solidFill>
              <a:srgbClr val="A8B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730526" y="3730377"/>
            <a:ext cx="228600" cy="19050"/>
          </a:xfrm>
          <a:prstGeom prst="roundRect">
            <a:avLst>
              <a:gd name="adj" fmla="val 66667"/>
            </a:avLst>
          </a:prstGeom>
          <a:solidFill>
            <a:srgbClr val="6B8F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730526" y="3876377"/>
            <a:ext cx="22605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D34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部署与运维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730526" y="4130278"/>
            <a:ext cx="226052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3"/>
              </a:lnSpc>
              <a:buNone/>
            </a:pPr>
            <a:r>
              <a:rPr lang="en-US" sz="75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生产服务器上开 tmux Session 执行部署。网络抖动不中断——运维基本素养。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273701" y="3543151"/>
            <a:ext cx="2616250" cy="1069628"/>
          </a:xfrm>
          <a:prstGeom prst="roundRect">
            <a:avLst>
              <a:gd name="adj" fmla="val 11873"/>
            </a:avLst>
          </a:prstGeom>
          <a:solidFill>
            <a:srgbClr val="FFFFFF">
              <a:alpha val="50000"/>
            </a:srgbClr>
          </a:solidFill>
          <a:ln w="9525">
            <a:solidFill>
              <a:srgbClr val="A8B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473726" y="3730377"/>
            <a:ext cx="228600" cy="19050"/>
          </a:xfrm>
          <a:prstGeom prst="roundRect">
            <a:avLst>
              <a:gd name="adj" fmla="val 66667"/>
            </a:avLst>
          </a:prstGeom>
          <a:solidFill>
            <a:srgbClr val="6B8F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473726" y="3876377"/>
            <a:ext cx="22605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D34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工作区持久化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73726" y="4130278"/>
            <a:ext cx="226052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3"/>
              </a:lnSpc>
              <a:buNone/>
            </a:pPr>
            <a:r>
              <a:rPr lang="en-US" sz="75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 tmux 脚本或插件保存完整工作区布局，重启机器后一键恢复所有窗口和分屏。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9016901" y="3543151"/>
            <a:ext cx="2616398" cy="1069628"/>
          </a:xfrm>
          <a:prstGeom prst="roundRect">
            <a:avLst>
              <a:gd name="adj" fmla="val 11873"/>
            </a:avLst>
          </a:prstGeom>
          <a:solidFill>
            <a:srgbClr val="FFFFFF">
              <a:alpha val="50000"/>
            </a:srgbClr>
          </a:solidFill>
          <a:ln w="9525">
            <a:solidFill>
              <a:srgbClr val="A8B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9216926" y="3730377"/>
            <a:ext cx="228600" cy="19050"/>
          </a:xfrm>
          <a:prstGeom prst="roundRect">
            <a:avLst>
              <a:gd name="adj" fmla="val 66667"/>
            </a:avLst>
          </a:prstGeom>
          <a:solidFill>
            <a:srgbClr val="6B8F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216926" y="3876377"/>
            <a:ext cx="2260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D34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多任务并行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216926" y="4130278"/>
            <a:ext cx="22606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3"/>
              </a:lnSpc>
              <a:buNone/>
            </a:pPr>
            <a:r>
              <a:rPr lang="en-US" sz="75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 1 跑测试，Window 2 写代码，Window 3 看文档——Ctrl+B, N 秒切上下文。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232654" y="6369100"/>
            <a:ext cx="4086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8C2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09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0188" y="0"/>
            <a:ext cx="0" cy="6858000"/>
          </a:xfrm>
          <a:prstGeom prst="line">
            <a:avLst/>
          </a:prstGeom>
          <a:noFill/>
          <a:ln w="9525">
            <a:solidFill>
              <a:srgbClr val="6B8F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2289125"/>
            <a:ext cx="22702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8F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 III · 进阶技巧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9600" y="2743051"/>
            <a:ext cx="22702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8C2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Beyond the Basics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09600" y="2977902"/>
            <a:ext cx="2270239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2D34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进阶技巧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09600" y="3556843"/>
            <a:ext cx="2270239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掌握基础命令之后，这些进阶技巧能让你的 tmux 体验再上一个台阶。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9600" y="4289524"/>
            <a:ext cx="1094780" cy="330101"/>
          </a:xfrm>
          <a:prstGeom prst="roundRect">
            <a:avLst>
              <a:gd name="adj" fmla="val 69252"/>
            </a:avLst>
          </a:prstGeom>
          <a:solidFill>
            <a:srgbClr val="6B8F71">
              <a:alpha val="7000"/>
            </a:srgbClr>
          </a:solidFill>
          <a:ln w="9525">
            <a:solidFill>
              <a:srgbClr val="6B8F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1525" y="4416475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6B8F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36575" y="4387900"/>
            <a:ext cx="6179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B8F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社区最佳实践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581251" y="2372469"/>
            <a:ext cx="2565499" cy="2214711"/>
          </a:xfrm>
          <a:prstGeom prst="roundRect">
            <a:avLst>
              <a:gd name="adj" fmla="val 6881"/>
            </a:avLst>
          </a:prstGeom>
          <a:solidFill>
            <a:srgbClr val="FFFFFF">
              <a:alpha val="50000"/>
            </a:srgbClr>
          </a:solidFill>
          <a:ln w="9525">
            <a:solidFill>
              <a:srgbClr val="A8B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819376" y="2635895"/>
            <a:ext cx="2131034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2000" i="1" dirty="0">
                <a:solidFill>
                  <a:srgbClr val="6B8F71">
                    <a:alpha val="1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819376" y="2991445"/>
            <a:ext cx="213103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D34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插件生态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19376" y="3356521"/>
            <a:ext cx="2131034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TPM（tmux Plugin Manager）一键安装插件。tmux-sensible 合理默认值、tmux-resurrect 会话持久化、tmux-continuum 自动保存——社区已经把轮子造好了。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819376" y="4057352"/>
            <a:ext cx="2131034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6B8F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clone https://github.com/tmux-plugins/tpm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324451" y="2372469"/>
            <a:ext cx="2565499" cy="2214711"/>
          </a:xfrm>
          <a:prstGeom prst="roundRect">
            <a:avLst>
              <a:gd name="adj" fmla="val 6881"/>
            </a:avLst>
          </a:prstGeom>
          <a:solidFill>
            <a:srgbClr val="FFFFFF">
              <a:alpha val="50000"/>
            </a:srgbClr>
          </a:solidFill>
          <a:ln w="9525">
            <a:solidFill>
              <a:srgbClr val="A8B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562576" y="2635895"/>
            <a:ext cx="2131034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2000" i="1" dirty="0">
                <a:solidFill>
                  <a:srgbClr val="6B8F71">
                    <a:alpha val="1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62576" y="2991445"/>
            <a:ext cx="213103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D34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鼠标支持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62576" y="3356521"/>
            <a:ext cx="213103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开启鼠标模式——点击切换 Panel、拖拽调整分屏大小、滚轮翻页。终端操作瞬间现代化，告别纯键盘的约束。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562576" y="3894832"/>
            <a:ext cx="213103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6B8F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 -g mouse on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9067651" y="2372469"/>
            <a:ext cx="2565648" cy="2214711"/>
          </a:xfrm>
          <a:prstGeom prst="roundRect">
            <a:avLst>
              <a:gd name="adj" fmla="val 6881"/>
            </a:avLst>
          </a:prstGeom>
          <a:solidFill>
            <a:srgbClr val="FFFFFF">
              <a:alpha val="50000"/>
            </a:srgbClr>
          </a:solidFill>
          <a:ln w="9525">
            <a:solidFill>
              <a:srgbClr val="A8B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305776" y="2635895"/>
            <a:ext cx="2131186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2000" i="1" dirty="0">
                <a:solidFill>
                  <a:srgbClr val="6B8F71">
                    <a:alpha val="1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305776" y="2991445"/>
            <a:ext cx="213118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D34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美化与配置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05776" y="3356521"/>
            <a:ext cx="213118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定制状态栏（显示时间/CPU/电池）、更换配色方案、用 tmuxp 写 YAML 配置文件一键启动复杂工作区布局。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305776" y="3894832"/>
            <a:ext cx="2131186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6B8F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tmuxp load my-workspace.yaml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1246644" y="6388150"/>
            <a:ext cx="3943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8C2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09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1238" y="0"/>
            <a:ext cx="0" cy="6858000"/>
          </a:xfrm>
          <a:prstGeom prst="line">
            <a:avLst/>
          </a:prstGeom>
          <a:noFill/>
          <a:ln w="9525">
            <a:solidFill>
              <a:srgbClr val="6B8F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1101" y="1783854"/>
            <a:ext cx="54828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8F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LAST THING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11101" y="2313980"/>
            <a:ext cx="5482882" cy="1439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800" dirty="0">
                <a:solidFill>
                  <a:srgbClr val="2D34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“一旦你习惯了</a:t>
            </a:r>
            <a:endParaRPr lang="en-US" sz="2800" dirty="0"/>
          </a:p>
          <a:p>
            <a:pPr algn="l" indent="0" marL="0">
              <a:lnSpc>
                <a:spcPts val="3780"/>
              </a:lnSpc>
              <a:buNone/>
            </a:pPr>
            <a:r>
              <a:rPr lang="en-US" sz="2800" dirty="0">
                <a:solidFill>
                  <a:srgbClr val="2D34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tmux，裸终端就</a:t>
            </a:r>
            <a:endParaRPr lang="en-US" sz="2800" dirty="0"/>
          </a:p>
          <a:p>
            <a:pPr algn="l" indent="0" marL="0">
              <a:lnSpc>
                <a:spcPts val="3780"/>
              </a:lnSpc>
              <a:buNone/>
            </a:pPr>
            <a:r>
              <a:rPr lang="en-US" sz="2800" dirty="0">
                <a:solidFill>
                  <a:srgbClr val="2D34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再也回不去了。”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1101" y="4033242"/>
            <a:ext cx="5482882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B0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Once you go tmux, you never go back.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B0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从今天开始，给你的终端一个永不失联的家。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1101" y="4794796"/>
            <a:ext cx="548288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 tmux 用户共识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1101" y="5020121"/>
            <a:ext cx="548288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8C2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github.com/tmux/tmux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493050" y="1778050"/>
            <a:ext cx="3301901" cy="3301901"/>
          </a:xfrm>
          <a:prstGeom prst="roundRect">
            <a:avLst>
              <a:gd name="adj" fmla="val 27693"/>
            </a:avLst>
          </a:prstGeom>
          <a:noFill/>
          <a:ln w="9525">
            <a:solidFill>
              <a:srgbClr val="6B8F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191500" y="2476500"/>
            <a:ext cx="1905000" cy="1905000"/>
          </a:xfrm>
          <a:prstGeom prst="roundRect">
            <a:avLst>
              <a:gd name="adj" fmla="val 48000"/>
            </a:avLst>
          </a:prstGeom>
          <a:noFill/>
          <a:ln w="9525">
            <a:solidFill>
              <a:srgbClr val="6B8F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715673" y="2667000"/>
            <a:ext cx="873788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0"/>
              </a:lnSpc>
              <a:buNone/>
            </a:pPr>
            <a:r>
              <a:rPr lang="en-US" sz="12000" dirty="0">
                <a:solidFill>
                  <a:srgbClr val="6B8F71">
                    <a:alpha val="3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</a:t>
            </a:r>
            <a:endParaRPr lang="en-US" sz="12000" dirty="0"/>
          </a:p>
        </p:txBody>
      </p:sp>
      <p:sp>
        <p:nvSpPr>
          <p:cNvPr id="11" name="Text 9"/>
          <p:cNvSpPr/>
          <p:nvPr/>
        </p:nvSpPr>
        <p:spPr>
          <a:xfrm>
            <a:off x="5831979" y="6257925"/>
            <a:ext cx="5386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8C2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fin —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226850" y="6369100"/>
            <a:ext cx="4145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8C2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09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2026-06-01T15:16:54Z</dcterms:created>
  <dcterms:modified xsi:type="dcterms:W3CDTF">2026-06-01T15:16:54Z</dcterms:modified>
</cp:coreProperties>
</file>